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dp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488589" cy="548640"/>
          </a:xfrm>
          <a:prstGeom prst="rect">
            <a:avLst/>
          </a:prstGeom>
        </p:spPr>
      </p:pic>
      <p:pic>
        <p:nvPicPr>
          <p:cNvPr id="4" name="Picture 3" descr="logo_ap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57200"/>
            <a:ext cx="161332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23C"/>
                </a:solidFill>
                <a:latin typeface="Consolas"/>
              </a:rPr>
              <a:t>DESKTOP APPLICATION · PHENOTYPING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Segoe UI"/>
              </a:rPr>
              <a:t>Plot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9FB2C4"/>
                </a:solidFill>
                <a:latin typeface="Segoe UI"/>
              </a:rPr>
              <a:t>One clean, correctly-located image per plot — from drone survey to emergence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AF1F7"/>
                </a:solidFill>
                <a:latin typeface="Segoe UI"/>
              </a:rPr>
              <a:t>A drone survey isn't a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10896" cy="310896"/>
          </a:xfrm>
          <a:prstGeom prst="rect">
            <a:avLst/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A844"/>
                </a:solidFill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3055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7"/>
                </a:solidFill>
                <a:latin typeface="Segoe UI"/>
              </a:rPr>
              <a:t>Rows get clipped.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5973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2C4"/>
                </a:solidFill>
                <a:latin typeface="Segoe UI"/>
              </a:rPr>
              <a:t>A plot grid rarely sits exactly on the planted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90088"/>
            <a:ext cx="310896" cy="310896"/>
          </a:xfrm>
          <a:prstGeom prst="rect">
            <a:avLst/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A844"/>
                </a:solidFill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718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7"/>
                </a:solidFill>
                <a:latin typeface="Segoe UI"/>
              </a:rPr>
              <a:t>Frames don't cover a plot.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009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2C4"/>
                </a:solidFill>
                <a:latin typeface="Segoe UI"/>
              </a:rPr>
              <a:t>A 6 m plot is longer than one camera footprint.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31336"/>
            <a:ext cx="310896" cy="310896"/>
          </a:xfrm>
          <a:prstGeom prst="rect">
            <a:avLst/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A844"/>
                </a:solidFill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81304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7"/>
                </a:solidFill>
                <a:latin typeface="Segoe UI"/>
              </a:rPr>
              <a:t>Visible seams.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4223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2C4"/>
                </a:solidFill>
                <a:latin typeface="Segoe UI"/>
              </a:rPr>
              <a:t>Stitching two frames leaves a brightness / contrast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72584"/>
            <a:ext cx="310896" cy="310896"/>
          </a:xfrm>
          <a:prstGeom prst="rect">
            <a:avLst/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A844"/>
                </a:solidFill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5429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AF1F7"/>
                </a:solidFill>
                <a:latin typeface="Segoe UI"/>
              </a:rPr>
              <a:t>Field-edge plots fail.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9834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2C4"/>
                </a:solidFill>
                <a:latin typeface="Segoe UI"/>
              </a:rPr>
              <a:t>No near-nadir frame → smeared, black crops.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148840"/>
            <a:ext cx="4480560" cy="310896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The job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Turn 3,400 overlapping oblique photos into 392 tidy, comparable, correctly-located plot images — every planted row inside, no seams, no manual cleanup.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11480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8CC23C"/>
                </a:solidFill>
                <a:latin typeface="Consolas"/>
              </a:rPr>
              <a:t>392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892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FB2C4"/>
                </a:solidFill>
                <a:latin typeface="Segoe UI"/>
              </a:rPr>
              <a:t>plots per 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EAF1F7"/>
                </a:solidFill>
                <a:latin typeface="Segoe UI"/>
              </a:rPr>
              <a:t>Boundary → best frame → tidy crop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084831" cy="1828800"/>
          </a:xfrm>
          <a:prstGeom prst="rect">
            <a:avLst/>
          </a:prstGeom>
          <a:solidFill>
            <a:srgbClr val="122A40"/>
          </a:solidFill>
          <a:ln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/>
          <a:lstStyle/>
          <a:p>
            <a:pPr algn="ctr"/>
            <a:r>
              <a:rPr sz="1200">
                <a:solidFill>
                  <a:srgbClr val="8CC23C"/>
                </a:solidFill>
                <a:latin typeface="Consolas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F1F7"/>
                </a:solidFill>
                <a:latin typeface="Segoe UI"/>
              </a:rPr>
              <a:t>Back-project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FB2C4"/>
                </a:solidFill>
                <a:latin typeface="Segoe UI"/>
              </a:rPr>
              <a:t>Each plot polygon projected into every camera.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80943" y="2377440"/>
            <a:ext cx="2084831" cy="1828800"/>
          </a:xfrm>
          <a:prstGeom prst="rect">
            <a:avLst/>
          </a:prstGeom>
          <a:solidFill>
            <a:srgbClr val="122A40"/>
          </a:solidFill>
          <a:ln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/>
          <a:lstStyle/>
          <a:p>
            <a:pPr algn="ctr"/>
            <a:r>
              <a:rPr sz="1200">
                <a:solidFill>
                  <a:srgbClr val="8CC23C"/>
                </a:solidFill>
                <a:latin typeface="Consolas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F1F7"/>
                </a:solidFill>
                <a:latin typeface="Segoe UI"/>
              </a:rPr>
              <a:t>Pick near-nadir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FB2C4"/>
                </a:solidFill>
                <a:latin typeface="Segoe UI"/>
              </a:rPr>
              <a:t>The sharpest, least-oblique covering frame wins.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8926" y="2377440"/>
            <a:ext cx="2084831" cy="1828800"/>
          </a:xfrm>
          <a:prstGeom prst="rect">
            <a:avLst/>
          </a:prstGeom>
          <a:solidFill>
            <a:srgbClr val="122A40"/>
          </a:solidFill>
          <a:ln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/>
          <a:lstStyle/>
          <a:p>
            <a:pPr algn="ctr"/>
            <a:r>
              <a:rPr sz="1200">
                <a:solidFill>
                  <a:srgbClr val="8CC23C"/>
                </a:solidFill>
                <a:latin typeface="Consolas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F1F7"/>
                </a:solidFill>
                <a:latin typeface="Segoe UI"/>
              </a:rPr>
              <a:t>Gap-fill + match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FB2C4"/>
                </a:solidFill>
                <a:latin typeface="Segoe UI"/>
              </a:rPr>
              <a:t>Neighbour frames fill gaps; tone matched.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6909" y="2377440"/>
            <a:ext cx="2084831" cy="1828800"/>
          </a:xfrm>
          <a:prstGeom prst="rect">
            <a:avLst/>
          </a:prstGeom>
          <a:solidFill>
            <a:srgbClr val="122A40"/>
          </a:solidFill>
          <a:ln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/>
          <a:lstStyle/>
          <a:p>
            <a:pPr algn="ctr"/>
            <a:r>
              <a:rPr sz="1200">
                <a:solidFill>
                  <a:srgbClr val="8CC23C"/>
                </a:solidFill>
                <a:latin typeface="Consolas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F1F7"/>
                </a:solidFill>
                <a:latin typeface="Segoe UI"/>
              </a:rPr>
              <a:t>Auto-fit rows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FB2C4"/>
                </a:solidFill>
                <a:latin typeface="Segoe UI"/>
              </a:rPr>
              <a:t>Detect the band; trim to exactly N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54892" y="2377440"/>
            <a:ext cx="2084831" cy="1828800"/>
          </a:xfrm>
          <a:prstGeom prst="rect">
            <a:avLst/>
          </a:prstGeom>
          <a:solidFill>
            <a:srgbClr val="122A40"/>
          </a:solidFill>
          <a:ln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/>
          <a:lstStyle/>
          <a:p>
            <a:pPr algn="ctr"/>
            <a:r>
              <a:rPr sz="1200">
                <a:solidFill>
                  <a:srgbClr val="8CC23C"/>
                </a:solidFill>
                <a:latin typeface="Consolas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AF1F7"/>
                </a:solidFill>
                <a:latin typeface="Segoe UI"/>
              </a:rPr>
              <a:t>Write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FB2C4"/>
                </a:solidFill>
                <a:latin typeface="Segoe UI"/>
              </a:rPr>
              <a:t>Raw + ortho crop + manifest, per plot.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9FB2C4"/>
                </a:solidFill>
                <a:latin typeface="Segoe UI"/>
              </a:rPr>
              <a:t>Every output pixel is native raw from one frame — a single resample to make the strip upright. Far sharper than the orthomosaic, and each file is exactly one plot.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AF1F7"/>
                </a:solidFill>
                <a:latin typeface="Segoe UI"/>
              </a:rPr>
              <a:t>Auto-fit to the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B2C4"/>
                </a:solidFill>
                <a:latin typeface="Segoe UI"/>
              </a:rPr>
              <a:t>The grid clips rows. So the app renders each crop wider than the boundary, detects the crop rows from the tillage-ridge pattern — working even before emergence — then snaps to exactly your row count.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292608" cy="292608"/>
          </a:xfrm>
          <a:prstGeom prst="rect">
            <a:avLst/>
          </a:prstGeom>
          <a:solidFill>
            <a:srgbClr val="162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b="1" sz="1300">
                <a:solidFill>
                  <a:srgbClr val="8CC23C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416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AF1F7"/>
                </a:solidFill>
                <a:latin typeface="Segoe UI"/>
              </a:rPr>
              <a:t>Recovers clipped rows  —  by rendering past the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36008"/>
            <a:ext cx="292608" cy="292608"/>
          </a:xfrm>
          <a:prstGeom prst="rect">
            <a:avLst/>
          </a:prstGeom>
          <a:solidFill>
            <a:srgbClr val="162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b="1" sz="1300">
                <a:solidFill>
                  <a:srgbClr val="8CC23C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0857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AF1F7"/>
                </a:solidFill>
                <a:latin typeface="Segoe UI"/>
              </a:rPr>
              <a:t>Recentres on the rows  —  width_shift mode.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202936"/>
            <a:ext cx="292608" cy="292608"/>
          </a:xfrm>
          <a:prstGeom prst="rect">
            <a:avLst/>
          </a:prstGeom>
          <a:solidFill>
            <a:srgbClr val="162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b="1" sz="1300">
                <a:solidFill>
                  <a:srgbClr val="8CC23C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1755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AF1F7"/>
                </a:solidFill>
                <a:latin typeface="Segoe UI"/>
              </a:rPr>
              <a:t>Reports exact area  —  covering the rows, in m².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103120"/>
            <a:ext cx="4480560" cy="301752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Set two things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rows/plot = 7   ·   mode = width_shift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8CC23C"/>
                </a:solidFill>
                <a:latin typeface="Consola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977639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FB2C4"/>
                </a:solidFill>
                <a:latin typeface="Segoe UI"/>
              </a:rPr>
              <a:t>rows, every plot. Per-trial — set 0 to auto-detect.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AF1F7"/>
                </a:solidFill>
                <a:latin typeface="Segoe UI"/>
              </a:rPr>
              <a:t>Built to be hands-off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Near-nadir scoring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Prefers the sharpest, least-foreshortened covering frame.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148840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Gap-fill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One pixel = one frame; neighbours fill only the holes.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148840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Affine seam-match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Mean + contrast matched — invisible joins, native pixels.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41064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Ortho fallback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Edge plots auto-rebuilt from the ortho; white nodata → black.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941064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Chunk aware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Reads a project's sub-projects; Day 1 vs Day 2 in one click.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941064"/>
            <a:ext cx="3456432" cy="1572768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GPU + parallel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GPU compute, multi-core image stage — 392 plots in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EAF1F7"/>
                </a:solidFill>
                <a:latin typeface="Segoe UI"/>
              </a:rPr>
              <a:t>A dataset, plus its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5029200" cy="237744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Per run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RawCrops\ — sharp upright plot images
OrthoCrops\ — deskewed nadir crops
manifest.csv — one row per plot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194560"/>
            <a:ext cx="5212080" cy="237744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1900" b="1">
                <a:solidFill>
                  <a:srgbClr val="EAF1F7"/>
                </a:solidFill>
                <a:latin typeface="Segoe UI"/>
              </a:rPr>
              <a:t>Every crop is accountable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9FB2C4"/>
                </a:solidFill>
                <a:latin typeface="Segoe UI"/>
              </a:rPr>
              <a:t>The manifest records coverage, frames used, seam location, detected rows and the exact fitted area in m² — and flags any plot rebuilt from the ortho. Nothing is a black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8CC23C"/>
                </a:solidFill>
                <a:latin typeface="Segoe UI"/>
              </a:rPr>
              <a:t>Raw fidelity kept: natural per-plot brightness is preserved for downstream per-plot adaptive thresholding — the most raw image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CC23C"/>
                </a:solidFill>
                <a:latin typeface="Consolas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AF1F7"/>
                </a:solidFill>
                <a:latin typeface="Segoe UI"/>
              </a:rPr>
              <a:t>Three settings and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3456432" cy="219456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3200" b="1">
                <a:solidFill>
                  <a:srgbClr val="8CC23C"/>
                </a:solidFill>
                <a:latin typeface="Consolas"/>
              </a:rPr>
              <a:t>1</a:t>
            </a:r>
          </a:p>
          <a:p>
            <a:pPr>
              <a:spcBef>
                <a:spcPts val="800"/>
              </a:spcBef>
            </a:pPr>
            <a:r>
              <a:rPr sz="1900" b="1">
                <a:solidFill>
                  <a:srgbClr val="EAF1F7"/>
                </a:solidFill>
                <a:latin typeface="Segoe UI"/>
              </a:rPr>
              <a:t>Pick the chunk</a:t>
            </a:r>
          </a:p>
          <a:p>
            <a:pPr>
              <a:spcBef>
                <a:spcPts val="600"/>
              </a:spcBef>
            </a:pPr>
            <a:r>
              <a:rPr sz="1450">
                <a:solidFill>
                  <a:srgbClr val="9FB2C4"/>
                </a:solidFill>
                <a:latin typeface="Segoe UI"/>
              </a:rPr>
              <a:t>Project, chunk, plot shapefile, raw folder,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286000"/>
            <a:ext cx="3456432" cy="219456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3200" b="1">
                <a:solidFill>
                  <a:srgbClr val="8CC23C"/>
                </a:solidFill>
                <a:latin typeface="Consolas"/>
              </a:rPr>
              <a:t>2</a:t>
            </a:r>
          </a:p>
          <a:p>
            <a:pPr>
              <a:spcBef>
                <a:spcPts val="800"/>
              </a:spcBef>
            </a:pPr>
            <a:r>
              <a:rPr sz="1900" b="1">
                <a:solidFill>
                  <a:srgbClr val="EAF1F7"/>
                </a:solidFill>
                <a:latin typeface="Segoe UI"/>
              </a:rPr>
              <a:t>Auto-fit = 7 rows</a:t>
            </a:r>
          </a:p>
          <a:p>
            <a:pPr>
              <a:spcBef>
                <a:spcPts val="600"/>
              </a:spcBef>
            </a:pPr>
            <a:r>
              <a:rPr sz="1450">
                <a:solidFill>
                  <a:srgbClr val="9FB2C4"/>
                </a:solidFill>
                <a:latin typeface="Segoe UI"/>
              </a:rPr>
              <a:t>Rectified style · width_shift · sRGB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286000"/>
            <a:ext cx="3456432" cy="2194560"/>
          </a:xfrm>
          <a:prstGeom prst="rect">
            <a:avLst/>
          </a:prstGeom>
          <a:solidFill>
            <a:srgbClr val="122A40"/>
          </a:solidFill>
          <a:ln w="12700">
            <a:solidFill>
              <a:srgbClr val="20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 bIns="182880"/>
          <a:lstStyle/>
          <a:p>
            <a:pPr algn="ctr"/>
            <a:r>
              <a:rPr sz="3200" b="1">
                <a:solidFill>
                  <a:srgbClr val="8CC23C"/>
                </a:solidFill>
                <a:latin typeface="Consolas"/>
              </a:rPr>
              <a:t>3</a:t>
            </a:r>
          </a:p>
          <a:p>
            <a:pPr>
              <a:spcBef>
                <a:spcPts val="800"/>
              </a:spcBef>
            </a:pPr>
            <a:r>
              <a:rPr sz="1900" b="1">
                <a:solidFill>
                  <a:srgbClr val="EAF1F7"/>
                </a:solidFill>
                <a:latin typeface="Segoe UI"/>
              </a:rPr>
              <a:t>Run</a:t>
            </a:r>
          </a:p>
          <a:p>
            <a:pPr>
              <a:spcBef>
                <a:spcPts val="600"/>
              </a:spcBef>
            </a:pPr>
            <a:r>
              <a:rPr sz="1450">
                <a:solidFill>
                  <a:srgbClr val="9FB2C4"/>
                </a:solidFill>
                <a:latin typeface="Segoe UI"/>
              </a:rPr>
              <a:t>Test with Limit = 10, then run the full trial.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9FB2C4"/>
                </a:solidFill>
                <a:latin typeface="Segoe UI"/>
              </a:rPr>
              <a:t>A full run of raw + ortho self-corrects seams, edge plots and nodata — no post-processing. See the User Guide for every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2C4"/>
                </a:solidFill>
                <a:latin typeface="Segoe UI"/>
              </a:rPr>
              <a:t>Plot Extractor · DPIRD × APPN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550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9FB2C4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